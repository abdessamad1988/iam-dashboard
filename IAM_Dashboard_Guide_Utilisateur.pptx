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IAM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BDEFB"/>
                </a:solidFill>
              </a:rPr>
              <a:t>Guide Utilisateur — Supervision Identity &amp; Access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54864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9C"/>
                </a:solidFill>
              </a:rPr>
              <a:t>Sources : RH  ·  Active Directory  ·  LDAP  ·  Logs de provisioning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</a:rPr>
              <a:t>Version 1.0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0972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</a:rPr>
              <a:t>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Vue d'ensemble des sections du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502920" cy="105156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E3C"/>
                </a:solidFill>
              </a:rPr>
              <a:t>Import des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1109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Upload CSV mensuel — RH, AD, LDAP, 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502920" cy="10515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50876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76D2"/>
                </a:solidFill>
              </a:rPr>
              <a:t>Vue Globale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91109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KPIs, évolution mensuelle, alertes rapides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651760"/>
            <a:ext cx="502920" cy="10515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26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74320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A2"/>
                </a:solidFill>
              </a:rPr>
              <a:t>Mobilité RH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14553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Extra-entité, intra-site, intra-fonction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65176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651760"/>
            <a:ext cx="502920" cy="10515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926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74320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7C00"/>
                </a:solidFill>
              </a:rPr>
              <a:t>Provisioning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14553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Créations, modifications, désactivations, 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8620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886200"/>
            <a:ext cx="502920" cy="105156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160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97764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46E7A"/>
                </a:solidFill>
              </a:rPr>
              <a:t>Qualité des Données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7997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Comptes sans mail, entité manquante, incohérences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8620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3886200"/>
            <a:ext cx="502920" cy="10515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160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97764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</a:rPr>
              <a:t>Sécurité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37997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Comptes bloqués, MDP expirés, inactifs 90j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12064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5120640"/>
            <a:ext cx="502920" cy="10515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394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21208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76D2"/>
                </a:solidFill>
              </a:rPr>
              <a:t>Analyse LDAP ↔ RH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1441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Orphelins, désactivations, manquants, doublons (A–F)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120640"/>
            <a:ext cx="5394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5120640"/>
            <a:ext cx="502920" cy="10515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394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21208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</a:rPr>
              <a:t>Analyse AD ↔ RH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61441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Orphelins, bloqués, incohérences lastLogon/timestamp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📂  Import des Données Mensuelles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Page 00 — Chargement des fichiers CSV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46E7A"/>
                </a:solidFill>
              </a:rPr>
              <a:t>Uploadez les 5 fichiers CSV pour alimenter le dashboard. Le cache est vidé automatiquement après chaque import.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28800"/>
            <a:ext cx="22402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828800"/>
            <a:ext cx="224028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883664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👥  RH Mois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23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976D2"/>
                </a:solidFill>
              </a:rPr>
              <a:t>rh_M.csv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788920"/>
            <a:ext cx="2057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Employés actifs du mois courant
Colonnes : matricule, nom, prenom,
entite_affectation, site, action, mois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8608" y="1828800"/>
            <a:ext cx="22402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78608" y="1828800"/>
            <a:ext cx="224028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883664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🗂️  RH Mois M-1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423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976D2"/>
                </a:solidFill>
              </a:rPr>
              <a:t>rh_M1.csv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2788920"/>
            <a:ext cx="2057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Snapshot mois précédent
Permet : détection sorties
et calcul mobilité M vs M-1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8616" y="1828800"/>
            <a:ext cx="22402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28616" y="1828800"/>
            <a:ext cx="2240280" cy="5029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1883664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🖥️  Active Directory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6" y="2423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D2137"/>
                </a:solidFill>
              </a:rPr>
              <a:t>ad.csv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2788920"/>
            <a:ext cx="2057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employeeID, displayName, enabled
lastLogon, lockedOut,
passwordExpired, mail, timestamp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8624" y="1828800"/>
            <a:ext cx="22402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8624" y="1828800"/>
            <a:ext cx="224028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6" y="1883664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🔑  LDAP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2423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7B1FA2"/>
                </a:solidFill>
              </a:rPr>
              <a:t>ldap.csv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2788920"/>
            <a:ext cx="2057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uid, cn, mail, enabled
role (admin/user), department
last_logon, 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8632" y="1828800"/>
            <a:ext cx="22402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28632" y="1828800"/>
            <a:ext cx="224028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1883664"/>
            <a:ext cx="2093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📋  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2423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F57C00"/>
                </a:solidFill>
              </a:rPr>
              <a:t>logs.csv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2788920"/>
            <a:ext cx="2057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date, matricule, action
statut (success/error)
message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172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46E7A"/>
                </a:solidFill>
              </a:rPr>
              <a:t>💡  Conseil : uploadez d'abord rh_M1.csv puis rh_M.csv · Encodage UTF-8 avec BOM · Séparateur , ou 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🏠  Vue Globale —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Page 01 — Tableau de bord synthétique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560320" cy="10058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 Utilisateurs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371600"/>
            <a:ext cx="2560320" cy="10058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Comptes Actifs 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2560320" cy="10058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Nouveaux Comptes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371600"/>
            <a:ext cx="2560320" cy="10058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Taux Automatisation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06040"/>
            <a:ext cx="7315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</a:rPr>
              <a:t>📊  Évolution mensuelle des actions RH (Ajouter / Modifier / Désactiver)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Graphique à barres groupées par mois et par type d'action.
Permet de visualiser la tendance des mouvements de personnel
sur la période sélectionnée.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6060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697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</a:rPr>
              <a:t>🥧  Répartition par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06324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</a:rPr>
              <a:t>Graphique donut montrant
la proportion RAS / Modifier
/ Ajouter / Désactiver.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49240"/>
            <a:ext cx="11658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223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⚠️  Alertes rapides — 4 indicateurs en temps réel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🔴 Comptes bloqués (lockedOut AD)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🟡 Mots de passe expirés  ·  🟡 Comptes sans mail  ·  🔴 Incohérences RH / 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🔁  Mobilité RH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Page 02 — Détection des mouvements inter/intra-entité M vs M-1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46E7A"/>
                </a:solidFill>
              </a:rPr>
              <a:t>Comparaison automatique entre le fichier RH Mois M et Mois M-1 sur la base du matricule.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2880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828800"/>
            <a:ext cx="224028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883664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Extra-entité
+ changement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231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M_entite ≠ M-1_entite
ET M_site ≠ M-1_site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182880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78608" y="1828800"/>
            <a:ext cx="224028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883664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Extra-entité
sans changement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4231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M_entite ≠ M-1_entite
ET M_site = M-1_site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28616" y="182880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28616" y="1828800"/>
            <a:ext cx="224028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1883664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Intra
+ changement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6" y="24231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M_entite = M-1_entite
ET M_site ≠ M-1_site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8624" y="182880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78624" y="1828800"/>
            <a:ext cx="224028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6" y="1883664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Intra
+ changement fonction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4231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M_entite = M-1_entite
ET M_fonc ≠ M-1_fonc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8632" y="182880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28632" y="1828800"/>
            <a:ext cx="2240280" cy="50292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1784" y="1883664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Aucun
changement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24231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Toutes les valeurs
= M-1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</a:rPr>
              <a:t>Flags transverses (non exclusifs)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6634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flag_intra_site : même entité + site différent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flag_intra_sans_site : même entité + même site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flag_intra_fonction : même entité + fonction différente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4206240"/>
            <a:ext cx="6217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42976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1FA2"/>
                </a:solidFill>
              </a:rPr>
              <a:t>📊  Visualisations disponibles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66344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Barres empilées par entité (Extra / Intra)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Diagrammes donut par type de mobilité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Tableau détaillé avec colonnes M et M-1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KPIs : Total mobilité, Extra, Intra, Flags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⚙️ 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Page 03 — Suivi des opérations de création / modification / désactivation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27432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2743200" cy="347472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499616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➕ Créations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865376"/>
            <a:ext cx="252374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Nouveaux comptes (action = ajouter)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Répartition par entité et par site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Trend mensuel des créations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463040"/>
            <a:ext cx="27432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2968" y="1463040"/>
            <a:ext cx="27432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2696" y="1499616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✏️ Modifications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1865376"/>
            <a:ext cx="252374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Comptes modifiés (action = modifier)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Détail des changements par attribut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Historique sur la période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1463040"/>
            <a:ext cx="27432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1463040"/>
            <a:ext cx="2743200" cy="34747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499616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🚫 Désactivations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1865376"/>
            <a:ext cx="252374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Employés quittant l'organisation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Comptes à désactiver dans AD/LDAP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Alertes sur comptes encore actifs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4" y="1463040"/>
            <a:ext cx="27432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463040"/>
            <a:ext cx="2743200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499616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📋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1865376"/>
            <a:ext cx="252374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Journal complet des opérations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Taux de succès / erreur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• Filtrage par statut et par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📋  Qualité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Page 04 — Détection des anomalies dans les données RH / AD / 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274320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179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📧  Comptes sans 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116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Comptes AD ou LDAP
sans adresse email renseignée.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4630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2968" y="1463040"/>
            <a:ext cx="2743200" cy="4572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15179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🏢  Entité manquante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0116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Employés RH sans entité
d'affectation définie.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14630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1463040"/>
            <a:ext cx="2743200" cy="4572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5179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🔀  Incohérences RH / 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20116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Département AD ≠ entité RH
pour un même matricule.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4" y="14630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463040"/>
            <a:ext cx="2743200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15179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Indicateurs qualité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0116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Score global de qualité
par source de données.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34840"/>
            <a:ext cx="11658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76D2"/>
                </a:solidFill>
              </a:rPr>
              <a:t>📊  Graphiques disponibles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Distribution des anomalies par entité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Évolution mensuelle du taux de qualité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Top 10 des comptes avec le plus d'anomalies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Tableau détaillé exportable en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🔐 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Page 05 — Surveillance des comptes à risque dans l'AD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2743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2743200" cy="4572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179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🔒  Comptes bloqués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11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lockedOut = True dans l'AD
Intervention immédiate requise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463040"/>
            <a:ext cx="2743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2968" y="1463040"/>
            <a:ext cx="2743200" cy="4572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15179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🔑  MDP expirés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011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passwordExpired = True
Compte actif avec MDP expiré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1463040"/>
            <a:ext cx="2743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1463040"/>
            <a:ext cx="274320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5179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⏰  Inactifs &gt; 90 jours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2011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lastLogon antérieur à 90j
Compte actif sans connexion récente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4" y="1463040"/>
            <a:ext cx="2743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463040"/>
            <a:ext cx="2743200" cy="4572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15179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👤  Comptes désactivés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011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enabled = False dans l'AD
Possible désactivation manuelle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11658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📊  Visualisations et actions recommandées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Graphique en barres : comptes à risque par entité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Jauge : score de sécurité global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D2137"/>
                </a:solidFill>
              </a:rPr>
              <a:t>▸ Tableau trié par criticité avec export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3891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D32F2F"/>
                </a:solidFill>
              </a:rPr>
              <a:t>→ Débloquer les comptes verrouillés (lockedOut)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D32F2F"/>
                </a:solidFill>
              </a:rPr>
              <a:t>→ Forcer la réinitialisation des MDP expirés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D32F2F"/>
                </a:solidFill>
              </a:rPr>
              <a:t>→ Désactiver les comptes inactifs &gt; 90 jours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🔍  Analyse LDAP — Sections A à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Page 06 — Sous-menu de navigation intégré dans le sidebar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08760"/>
            <a:ext cx="190195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760"/>
            <a:ext cx="1901952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1563624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A. 👻 Orphelins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03120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Présents dans LDAP
mais absents de RH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</a:rPr>
              <a:t>Actions disponibles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11880"/>
            <a:ext cx="17190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Tableau filtrable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Export CSV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Graphiques détaillés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508760"/>
            <a:ext cx="190195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40280" y="1508760"/>
            <a:ext cx="1901952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95144" y="1563624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B. 🚫 À désactiver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03120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B1 : inactifs &gt; 180 j
B2 : employés sortis actifs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291840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</a:rPr>
              <a:t>Actions disponibles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611880"/>
            <a:ext cx="17190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Tableau filtrable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Export CSV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Graphiques détaillés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508760"/>
            <a:ext cx="190195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508760"/>
            <a:ext cx="1901952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6824" y="1563624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C. ❓ Manquants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103120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Présents dans RH
mais absents de LDAP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291840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Actions disponibles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611880"/>
            <a:ext cx="17190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Tableau filtrable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Export CSV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Graphiques détaillés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508760"/>
            <a:ext cx="190195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508760"/>
            <a:ext cx="1901952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563624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D. ⚠️ Risque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03120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Admins / bloqués
MDP expirés / jamais utilisés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91840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Actions disponibles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611880"/>
            <a:ext cx="17190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Tableau filtrable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Export CSV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Graphiques détaillés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1508760"/>
            <a:ext cx="190195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1508760"/>
            <a:ext cx="1901952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1563624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E. 📋 Doublons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103120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CN dupliqués (LDAP)
ou mail dupliqué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291840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Actions disponibles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611880"/>
            <a:ext cx="17190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Tableau filtrable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Export CSV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Graphiques détaillés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32720" y="1508760"/>
            <a:ext cx="190195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32720" y="1508760"/>
            <a:ext cx="1901952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87584" y="1563624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F. ⚡ Incohérences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2103120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Nom · Statut · Département
· Titre (AD uniquement)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291840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Actions disponibles 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3611880"/>
            <a:ext cx="17190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Tableau filtrable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Export CSV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46E7A"/>
                </a:solidFill>
              </a:rPr>
              <a:t>• Graphiques détaillés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6172200"/>
            <a:ext cx="1170432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976D2"/>
                </a:solidFill>
              </a:rPr>
              <a:t>Navigation : cliquez sur une section dans le sous-menu du sidebar pour afficher le détail correspondant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🖥️  Analyse AD — Spécificités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Page 07 — lastLogon vs timestamp · 4 sous-sections D · F4 Titre/Fonction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46E7A"/>
                </a:solidFill>
              </a:rPr>
              <a:t>L'analyse AD reprend les mêmes sections A–F que l'analyse LDAP, avec des indicateurs supplémentaires :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920240"/>
            <a:ext cx="2743200" cy="5029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751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📅  lastLogon vs timestamp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51460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Détecte les comptes créés mais jamais utilisés :
lastLogon absent OU lastLogon ≈ timestamp (delta &lt; 1 jour)
→ Section D4 : Jamais utilisés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19202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72968" y="1920240"/>
            <a:ext cx="274320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19751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🔒  Section D enrichie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251460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D1 : Comptes bloqués (lockedOut)
D2 : MDP expirés (actifs)
D3 : Inactifs &gt; 90 jours
D4 : Jamais utilisés depuis création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19202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0240"/>
            <a:ext cx="274320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19751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💼  F4 : Titre / Fonction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251460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Incohérence supplémentaire :
title AD ≠ fonction RH
Permet de détecter les promotions
non répercutées dans l'AD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61704" y="19202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1704" y="1920240"/>
            <a:ext cx="274320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19751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🔑  Clé de jointure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251460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</a:rPr>
              <a:t>matricule (RH)
= employeeID (AD)
Toutes les jointures passent
par cette correspondance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📅  Workflow Mensuel Recommandé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Procédure en 6 étapes à suivre chaque début de mois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502920" cy="5029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103120"/>
            <a:ext cx="1737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1737360" cy="45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2148840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Import
fichiers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5176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137"/>
                </a:solidFill>
              </a:rPr>
              <a:t>Uploader rh_M1, rh_M,
ad, ldap, logs
via Page 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5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508760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103120"/>
            <a:ext cx="1737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2103120"/>
            <a:ext cx="1737360" cy="45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2148840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Vue Globale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65176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137"/>
                </a:solidFill>
              </a:rPr>
              <a:t>Vérifier les KPIs
et les alertes
rapides (Page 01)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5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508760"/>
            <a:ext cx="50292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103120"/>
            <a:ext cx="1737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2103120"/>
            <a:ext cx="173736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33672" y="2148840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Mobilité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65176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137"/>
                </a:solidFill>
              </a:rPr>
              <a:t>Valider les
mouvements RH
M vs M-1 (Page 02)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5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1508760"/>
            <a:ext cx="5029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103120"/>
            <a:ext cx="1737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2103120"/>
            <a:ext cx="17373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2148840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Analyse
LDAP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65176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137"/>
                </a:solidFill>
              </a:rPr>
              <a:t>Traiter les sections
A (orphelins) et B
(désactiver) en prio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5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1508760"/>
            <a:ext cx="50292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103120"/>
            <a:ext cx="1737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2103120"/>
            <a:ext cx="1737360" cy="4572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5592" y="2148840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Analyse
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265176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137"/>
                </a:solidFill>
              </a:rPr>
              <a:t>Vérifier bloqués,
MDP expirés,
jamais utilisés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5"/>
                </a:solidFill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98480" y="1508760"/>
            <a:ext cx="502920" cy="50292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9848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0" y="2103120"/>
            <a:ext cx="1737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58400" y="2103120"/>
            <a:ext cx="1737360" cy="4572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31552" y="2148840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Export
rapports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265176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137"/>
                </a:solidFill>
              </a:rPr>
              <a:t>Télécharger les CSV
par section pour
le rapport mensuel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📖  Glossaire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Termes et abréviations utilisés dans le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AE"/>
                </a:solidFill>
              </a:rPr>
              <a:t>IAM Dashboard — Guide 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</a:rPr>
              <a:t>Terme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</a:rPr>
              <a:t>Définition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</a:rPr>
              <a:t>Terme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</a:rPr>
              <a:t>Définition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64208"/>
            <a:ext cx="5760720" cy="274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64208"/>
            <a:ext cx="5760720" cy="274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783080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8562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matricule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8562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Identifiant unique RH de l'employé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76856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50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employeeID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350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Identifiant employé dans l'AD (= matricule)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70632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8437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uid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84378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Identifiant unique dans l'annuaire LDAP (= matricule)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64408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enabled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337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Compte actif (True) ou désactivé (False)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58184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313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lastLogon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831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Date de dernière connexion au compte 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251960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3251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last_logon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3251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Date de dernière connexion au compte LDAP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745736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8188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timestamp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818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Date de création / dernière modification du compte 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39512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3126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lockedOut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3126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Compte verrouillé suite à trop de tentatives de connexion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733288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passwordExpired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806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Mot de passe expiré selon la politique 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1783080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18562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18562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RAS / ajouter / modifier / desactiver (fichier RH)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2276856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350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mobilite_type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2350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Type de mobilité calculé : extra_avec_site, intra_avec_fonction...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2770632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8437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orphelin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284378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Compte présent dans AD/LDAP mais absent du fichier RH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264408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3375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cn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3337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Common Name LDAP = Prénom NOM de l'employé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3758184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8313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displayName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3831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Nom affiché dans l'AD = Prénom NOM de l'employé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4251960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3251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department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3251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Entité organisationnelle dans AD/LDAP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4745736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8188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entite_affectation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80" y="4818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Entité d'affectation de l'employé dans le fichier RH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55080" y="5239512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53126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role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53126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Rôle LDAP : user (standard) ou admin (privilégié)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55080" y="5733288"/>
            <a:ext cx="576072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976D2"/>
                </a:solidFill>
              </a:rPr>
              <a:t>cutoff_180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1080" y="5806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2137"/>
                </a:solidFill>
              </a:rPr>
              <a:t>Seuil d'inactivité : 180 jours avant la date courante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Merci d'utiliser le
IAM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DEFB"/>
                </a:solidFill>
              </a:rPr>
              <a:t>Pour toute question, contactez l'équipe IAM.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36576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1645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</a:rPr>
              <a:t>IAM Dashboard V1  |  RH · Active Directory · LDAP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